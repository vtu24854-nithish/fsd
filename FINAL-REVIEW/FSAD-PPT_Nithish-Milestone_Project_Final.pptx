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2" r:id="rId16"/>
    <p:sldId id="270" r:id="rId17"/>
    <p:sldId id="265" r:id="rId18"/>
  </p:sldIdLst>
  <p:sldSz cx="18288000" cy="10287000"/>
  <p:notesSz cx="6858000" cy="9144000"/>
  <p:embeddedFontLst>
    <p:embeddedFont>
      <p:font typeface="Cambria" panose="02040503050406030204" pitchFamily="18" charset="0"/>
      <p:regular r:id="rId19"/>
      <p:bold r:id="rId20"/>
      <p:italic r:id="rId21"/>
      <p:boldItalic r:id="rId22"/>
    </p:embeddedFont>
    <p:embeddedFont>
      <p:font typeface="Gotham" panose="020B0604020202020204" charset="0"/>
      <p:regular r:id="rId23"/>
    </p:embeddedFont>
    <p:embeddedFont>
      <p:font typeface="Gotham Bold Italics" panose="020B060402020202020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EE9B89-508A-4F5F-D6C9-9331313E4358}" v="120" dt="2026-04-21T17:46:53.2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29"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Vel Tech Rangarajan Dr. Sagunthala R&amp;D Institute of Science and Technology</a:t>
            </a:r>
          </a:p>
          <a:p>
            <a:pPr algn="ctr"/>
            <a:r>
              <a:rPr lang="en-US" sz="3600" b="1" dirty="0">
                <a:latin typeface="Times New Roman" panose="02020603050405020304" pitchFamily="18" charset="0"/>
                <a:ea typeface="Cambria" panose="02040503050406030204" pitchFamily="18" charset="0"/>
                <a:cs typeface="Times New Roman" panose="02020603050405020304" pitchFamily="18" charset="0"/>
              </a:rPr>
              <a:t>School of Computing </a:t>
            </a:r>
          </a:p>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Department of Computer Science and Engineering</a:t>
            </a:r>
            <a:endParaRPr lang="en-IN" sz="32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10211CS224 / FULL STACK APPLICATION DEVELOPMENT </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200329"/>
          </a:xfrm>
          <a:prstGeom prst="rect">
            <a:avLst/>
          </a:prstGeom>
          <a:noFill/>
        </p:spPr>
        <p:txBody>
          <a:bodyPr wrap="square" rtlCol="0">
            <a:spAutoFit/>
          </a:bodyPr>
          <a:lstStyle/>
          <a:p>
            <a:r>
              <a:rPr lang="en-IN" sz="3600" b="1" dirty="0">
                <a:solidFill>
                  <a:srgbClr val="C00000"/>
                </a:solidFill>
                <a:latin typeface="Times New Roman" panose="02020603050405020304" pitchFamily="18" charset="0"/>
                <a:cs typeface="Times New Roman" panose="02020603050405020304" pitchFamily="18" charset="0"/>
              </a:rPr>
              <a:t>          END SEMESTER PROJECT REVIEW</a:t>
            </a:r>
            <a:endParaRPr lang="en-IN" sz="3600" dirty="0">
              <a:solidFill>
                <a:srgbClr val="C00000"/>
              </a:solidFill>
              <a:latin typeface="Times New Roman" panose="02020603050405020304" pitchFamily="18" charset="0"/>
              <a:cs typeface="Times New Roman" panose="02020603050405020304" pitchFamily="18" charset="0"/>
            </a:endParaRPr>
          </a:p>
          <a:p>
            <a:pPr algn="ctr"/>
            <a:r>
              <a:rPr lang="en-IN" sz="3600" b="1" dirty="0">
                <a:solidFill>
                  <a:srgbClr val="C00000"/>
                </a:solidFill>
                <a:latin typeface="Times New Roman" panose="02020603050405020304" pitchFamily="18" charset="0"/>
                <a:cs typeface="Times New Roman" panose="02020603050405020304" pitchFamily="18" charset="0"/>
              </a:rPr>
              <a:t>Date:06/05/2026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869186" y="5522222"/>
            <a:ext cx="15784162" cy="1200329"/>
          </a:xfrm>
          <a:prstGeom prst="rect">
            <a:avLst/>
          </a:prstGeom>
          <a:noFill/>
        </p:spPr>
        <p:txBody>
          <a:bodyPr wrap="square" rtlCol="0">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A FULL-STACK PLATFORM FOR RECRUITMENT AND APPLICATION MANAGEMENT</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428361" y="7800539"/>
            <a:ext cx="11037711" cy="1391663"/>
          </a:xfrm>
          <a:prstGeom prst="rect">
            <a:avLst/>
          </a:prstGeom>
          <a:noFill/>
        </p:spPr>
        <p:txBody>
          <a:bodyPr wrap="square" lIns="91440" tIns="45720" rIns="91440" bIns="45720" rtlCol="0" anchor="t">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Times New Roman" panose="02020603050405020304" pitchFamily="18" charset="0"/>
                <a:ea typeface="Cambria"/>
                <a:cs typeface="Times New Roman" panose="02020603050405020304" pitchFamily="18" charset="0"/>
              </a:rPr>
              <a:t>K.B.NITHISH KUMAR REDDY – VTU24854 – 23UECS0776</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896460" y="7884729"/>
            <a:ext cx="6393566" cy="1391663"/>
          </a:xfrm>
          <a:prstGeom prst="rect">
            <a:avLst/>
          </a:prstGeom>
          <a:noFill/>
        </p:spPr>
        <p:txBody>
          <a:bodyPr wrap="square" rtlCol="0">
            <a:spAutoFit/>
          </a:bodyPr>
          <a:lstStyle/>
          <a:p>
            <a:pPr>
              <a:lnSpc>
                <a:spcPct val="150000"/>
              </a:lnSpc>
            </a:pPr>
            <a:r>
              <a:rPr lang="en-US" sz="3000" dirty="0">
                <a:latin typeface="Cambria" panose="02040503050406030204" pitchFamily="18" charset="0"/>
                <a:ea typeface="Cambria" panose="02040503050406030204" pitchFamily="18" charset="0"/>
              </a:rPr>
              <a:t>Dr. S. </a:t>
            </a:r>
            <a:r>
              <a:rPr lang="en-US" sz="3000" dirty="0" err="1">
                <a:latin typeface="Cambria" panose="02040503050406030204" pitchFamily="18" charset="0"/>
                <a:ea typeface="Cambria" panose="02040503050406030204" pitchFamily="18" charset="0"/>
              </a:rPr>
              <a:t>Hemamalini,Assistant.Professor</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(Sr Grade)-</a:t>
            </a:r>
            <a:r>
              <a:rPr lang="en-US" sz="3000" dirty="0" err="1">
                <a:latin typeface="Cambria" panose="02040503050406030204" pitchFamily="18" charset="0"/>
                <a:ea typeface="Cambria" panose="02040503050406030204" pitchFamily="18" charset="0"/>
              </a:rPr>
              <a:t>M.E,ph.D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Times New Roman" panose="02020603050405020304" pitchFamily="18" charset="0"/>
                <a:ea typeface="Cambria" panose="02040503050406030204" pitchFamily="18" charset="0"/>
                <a:cs typeface="Times New Roman" panose="02020603050405020304" pitchFamily="18" charset="0"/>
              </a:rPr>
              <a:t>SDG: 9-</a:t>
            </a:r>
            <a:r>
              <a:rPr lang="en-IN" sz="2000" b="1" dirty="0">
                <a:latin typeface="Times New Roman" panose="02020603050405020304" pitchFamily="18" charset="0"/>
                <a:ea typeface="Cambria" panose="02040503050406030204" pitchFamily="18" charset="0"/>
                <a:cs typeface="Times New Roman" panose="02020603050405020304" pitchFamily="18" charset="0"/>
              </a:rPr>
              <a:t>Industry , Innovation and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INTRODUCTION</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78485" y="2139341"/>
            <a:ext cx="15082325" cy="4401205"/>
          </a:xfrm>
          <a:prstGeom prst="rect">
            <a:avLst/>
          </a:prstGeom>
          <a:noFill/>
        </p:spPr>
        <p:txBody>
          <a:bodyPr wrap="square" rtlCol="0">
            <a:spAutoFit/>
          </a:bodyPr>
          <a:lstStyle/>
          <a:p>
            <a:pPr marL="571500" indent="-5715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recruitment process in many organizations is still handled manually or through scattered systems, leading to inefficiencies, delays, and poor communication. This creates difficulties for both recruiters and job seekers in managing applications and tracking progress. Therefore, there is a need for a centralized digital platform to streamline the hiring process. This project is important as it reduces manual effort, improves accuracy, and enhances transparency in recruitment activities. In real-world scenarios, such platforms are widely used by companies to manage job postings and candidate applications effectively. The proposed system is a full-stack web application that allows administrators to post and manage jobs, while users can search, apply, and track their application status. Additionally, the system provides automated email notifications to keep users updated throughout the recruitment process.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PROBLEM STATEMENT</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82" name="Rectangle 50">
            <a:extLst>
              <a:ext uri="{FF2B5EF4-FFF2-40B4-BE49-F238E27FC236}">
                <a16:creationId xmlns:a16="http://schemas.microsoft.com/office/drawing/2014/main" id="{D9047F7D-3197-ED64-41B7-A880BD00A49B}"/>
              </a:ext>
            </a:extLst>
          </p:cNvPr>
          <p:cNvSpPr>
            <a:spLocks noChangeArrowheads="1"/>
          </p:cNvSpPr>
          <p:nvPr/>
        </p:nvSpPr>
        <p:spPr bwMode="auto">
          <a:xfrm>
            <a:off x="1749460" y="2648112"/>
            <a:ext cx="1582918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eaLnBrk="0" fontAlgn="base" hangingPunct="0">
              <a:spcBef>
                <a:spcPct val="0"/>
              </a:spcBef>
              <a:spcAft>
                <a:spcPct val="0"/>
              </a:spcAf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recruitment process in many organizations is often handled through manual or fragmented digital systems, leading to inefficiencies and delays. Recruiters face challenges in managing large volumes of applications, while candidates lack proper visibility into their application status. This results in poor communication, data inconsistency, and difficulty in tracking progress. Additionally, the absence of a centralized platform makes it hard to maintain accurate records and streamline workflows. These limitations reduce the overall efficiency of the hiring process. Therefore, there is a need for a reliable and integrated system that can simplify recruitment and application management.</a:t>
            </a:r>
          </a:p>
          <a:p>
            <a:pPr marL="571500" lvl="0" indent="-571500" algn="just" eaLnBrk="0" fontAlgn="base" hangingPunct="0">
              <a:spcBef>
                <a:spcPct val="0"/>
              </a:spcBef>
              <a:spcAft>
                <a:spcPct val="0"/>
              </a:spcAft>
              <a:buFont typeface="Wingdings" pitchFamily="2" charset="2"/>
              <a:buChar char="Ø"/>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OBJECTIVE(S)</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467361" y="2283976"/>
            <a:ext cx="13353278" cy="1815882"/>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Develop a centralized platform to manage job postings and applications efficiently </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Enable users to search, apply, and track job applications easily </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Provide administrators with tools to manage recruitment and communicate with candidates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PROPOSED SYSTEM</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178485" y="2154999"/>
            <a:ext cx="15082325" cy="3970318"/>
          </a:xfrm>
          <a:prstGeom prst="rect">
            <a:avLst/>
          </a:prstGeom>
          <a:noFill/>
        </p:spPr>
        <p:txBody>
          <a:bodyPr wrap="square" lIns="91440" tIns="45720" rIns="91440" bIns="45720" rtlCol="0" anchor="t">
            <a:spAutoFit/>
          </a:bodyPr>
          <a:lstStyle/>
          <a:p>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Develops a centralized full-stack web platform for recruitment and application management</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Provides separate interfaces for administrators and job seekers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Allows admins to post, update, and manage job listings efficiently</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Enables users to search jobs, apply online, and track application status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Automates notifications through email for application updates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Reduces manual errors and improves data consistency</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Enhances communication between recruiters and candidates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More efficient, scalable, and user-friendly compared to traditional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PROPOSED SYSTEM ARCHITECTURE</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a:p>
        </p:txBody>
      </p:sp>
      <p:pic>
        <p:nvPicPr>
          <p:cNvPr id="4" name="Picture 3">
            <a:extLst>
              <a:ext uri="{FF2B5EF4-FFF2-40B4-BE49-F238E27FC236}">
                <a16:creationId xmlns:a16="http://schemas.microsoft.com/office/drawing/2014/main" id="{AB62364E-2F90-D93C-E697-2DF799868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2143" y="1373627"/>
            <a:ext cx="9691649" cy="77560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WORKFLOW</a:t>
            </a:r>
            <a:endParaRPr lang="en-IN" sz="4800" b="1">
              <a:solidFill>
                <a:srgbClr val="0033CC"/>
              </a:solidFill>
              <a:latin typeface="Times New Roman" panose="02020603050405020304" pitchFamily="18" charset="0"/>
              <a:cs typeface="Times New Roman" panose="02020603050405020304" pitchFamily="18" charset="0"/>
            </a:endParaRPr>
          </a:p>
        </p:txBody>
      </p:sp>
      <p:pic>
        <p:nvPicPr>
          <p:cNvPr id="3" name="Picture 2" descr="A diagram of a job portal&#10;&#10;AI-generated content may be incorrect.">
            <a:extLst>
              <a:ext uri="{FF2B5EF4-FFF2-40B4-BE49-F238E27FC236}">
                <a16:creationId xmlns:a16="http://schemas.microsoft.com/office/drawing/2014/main" id="{8F19FAE3-9FB6-136E-E3C6-742075A9C5C3}"/>
              </a:ext>
            </a:extLst>
          </p:cNvPr>
          <p:cNvPicPr>
            <a:picLocks noChangeAspect="1"/>
          </p:cNvPicPr>
          <p:nvPr/>
        </p:nvPicPr>
        <p:blipFill>
          <a:blip r:embed="rId3"/>
          <a:srcRect l="344" t="13769" r="875" b="172"/>
          <a:stretch>
            <a:fillRect/>
          </a:stretch>
        </p:blipFill>
        <p:spPr>
          <a:xfrm>
            <a:off x="3718560" y="1730606"/>
            <a:ext cx="11752308" cy="68257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TECHNOLOGIES USED</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176975" y="2142678"/>
            <a:ext cx="15082325" cy="6001643"/>
          </a:xfrm>
          <a:prstGeom prst="rect">
            <a:avLst/>
          </a:prstGeom>
          <a:noFill/>
        </p:spPr>
        <p:txBody>
          <a:bodyPr wrap="square" lIns="91440" tIns="45720" rIns="91440" bIns="45720" rtlCol="0" anchor="t">
            <a:spAutoFit/>
          </a:bodyPr>
          <a:lstStyle/>
          <a:p>
            <a:r>
              <a:rPr lang="en-US" sz="3200" b="1" dirty="0">
                <a:latin typeface="Times New Roman"/>
                <a:cs typeface="Times New Roman"/>
              </a:rPr>
              <a:t>Frontend:</a:t>
            </a:r>
          </a:p>
          <a:p>
            <a:r>
              <a:rPr lang="en-US" sz="3200" dirty="0">
                <a:latin typeface="Times New Roman"/>
                <a:cs typeface="Times New Roman"/>
              </a:rPr>
              <a:t>•</a:t>
            </a:r>
            <a:r>
              <a:rPr lang="en-US" sz="3200" b="1" dirty="0">
                <a:latin typeface="Times New Roman"/>
                <a:cs typeface="Times New Roman"/>
              </a:rPr>
              <a:t> </a:t>
            </a:r>
            <a:r>
              <a:rPr lang="en-US" sz="3200" dirty="0">
                <a:latin typeface="Times New Roman"/>
                <a:cs typeface="Times New Roman"/>
              </a:rPr>
              <a:t>HTML, CSS, JavaScript, </a:t>
            </a:r>
            <a:r>
              <a:rPr lang="en-US" sz="3200" dirty="0" err="1">
                <a:latin typeface="Times New Roman"/>
                <a:cs typeface="Times New Roman"/>
              </a:rPr>
              <a:t>Thymeleaf</a:t>
            </a:r>
            <a:endParaRPr lang="en-US" sz="3200" dirty="0">
              <a:latin typeface="Times New Roman"/>
              <a:cs typeface="Times New Roman"/>
            </a:endParaRPr>
          </a:p>
          <a:p>
            <a:r>
              <a:rPr lang="en-US" sz="3200" b="1" dirty="0">
                <a:latin typeface="Times New Roman"/>
                <a:cs typeface="Times New Roman"/>
              </a:rPr>
              <a:t>Backend:</a:t>
            </a:r>
          </a:p>
          <a:p>
            <a:r>
              <a:rPr lang="en-US" sz="3200" dirty="0">
                <a:latin typeface="Times New Roman"/>
                <a:cs typeface="Times New Roman"/>
              </a:rPr>
              <a:t>•</a:t>
            </a:r>
            <a:r>
              <a:rPr lang="en-US" sz="3200" b="1" dirty="0">
                <a:latin typeface="Times New Roman"/>
                <a:cs typeface="Times New Roman"/>
              </a:rPr>
              <a:t> </a:t>
            </a:r>
            <a:r>
              <a:rPr lang="en-US" sz="3200" dirty="0">
                <a:latin typeface="Times New Roman"/>
                <a:cs typeface="Times New Roman"/>
              </a:rPr>
              <a:t>Java, Spring Boot, Spring Security</a:t>
            </a:r>
            <a:endParaRPr lang="en-US" sz="3200" b="1" dirty="0">
              <a:latin typeface="Times New Roman"/>
              <a:cs typeface="Times New Roman"/>
            </a:endParaRPr>
          </a:p>
          <a:p>
            <a:r>
              <a:rPr lang="en-US" sz="3200" b="1" dirty="0">
                <a:latin typeface="Times New Roman"/>
                <a:cs typeface="Times New Roman"/>
              </a:rPr>
              <a:t>Database:</a:t>
            </a:r>
          </a:p>
          <a:p>
            <a:r>
              <a:rPr lang="en-US" sz="3200" dirty="0">
                <a:latin typeface="Times New Roman"/>
                <a:cs typeface="Times New Roman"/>
              </a:rPr>
              <a:t>•</a:t>
            </a:r>
            <a:r>
              <a:rPr lang="en-US" sz="3200" b="1" dirty="0">
                <a:latin typeface="Times New Roman"/>
                <a:cs typeface="Times New Roman"/>
              </a:rPr>
              <a:t> </a:t>
            </a:r>
            <a:r>
              <a:rPr lang="en-US" sz="3200" dirty="0">
                <a:latin typeface="Times New Roman"/>
                <a:cs typeface="Times New Roman"/>
              </a:rPr>
              <a:t>H2 / MySQL</a:t>
            </a:r>
          </a:p>
          <a:p>
            <a:r>
              <a:rPr lang="en-US" sz="3200" b="1" dirty="0">
                <a:latin typeface="Times New Roman"/>
                <a:cs typeface="Times New Roman"/>
              </a:rPr>
              <a:t>Tools:</a:t>
            </a:r>
          </a:p>
          <a:p>
            <a:r>
              <a:rPr lang="en-US" sz="3200" dirty="0">
                <a:latin typeface="Times New Roman"/>
                <a:cs typeface="Times New Roman"/>
              </a:rPr>
              <a:t>• VS Code  </a:t>
            </a:r>
          </a:p>
          <a:p>
            <a:r>
              <a:rPr lang="en-US" sz="3200" dirty="0">
                <a:latin typeface="Times New Roman"/>
                <a:cs typeface="Times New Roman"/>
              </a:rPr>
              <a:t>• Maven  </a:t>
            </a:r>
          </a:p>
          <a:p>
            <a:r>
              <a:rPr lang="en-US" sz="3200" dirty="0">
                <a:latin typeface="Times New Roman"/>
                <a:cs typeface="Times New Roman"/>
              </a:rPr>
              <a:t>• </a:t>
            </a:r>
            <a:r>
              <a:rPr lang="en-US" sz="3200" dirty="0" err="1">
                <a:latin typeface="Times New Roman"/>
                <a:cs typeface="Times New Roman"/>
              </a:rPr>
              <a:t>Jsp</a:t>
            </a:r>
            <a:endParaRPr lang="en-US" sz="3200" b="1" dirty="0">
              <a:latin typeface="Times New Roman"/>
              <a:cs typeface="Times New Roman"/>
            </a:endParaRPr>
          </a:p>
          <a:p>
            <a:r>
              <a:rPr lang="en-US" sz="3200" b="1" dirty="0">
                <a:latin typeface="Times New Roman"/>
                <a:cs typeface="Times New Roman"/>
              </a:rPr>
              <a:t>Other:</a:t>
            </a:r>
          </a:p>
          <a:p>
            <a:r>
              <a:rPr lang="en-US" sz="3200" b="1" dirty="0">
                <a:latin typeface="Times New Roman"/>
                <a:cs typeface="Times New Roman"/>
              </a:rPr>
              <a:t>• </a:t>
            </a:r>
            <a:r>
              <a:rPr lang="en-US" sz="3200" dirty="0">
                <a:latin typeface="Times New Roman"/>
                <a:cs typeface="Times New Roman"/>
              </a:rPr>
              <a:t>Spring Mail (Email notifications)</a:t>
            </a:r>
            <a:endParaRPr lang="en-IN" sz="28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MODULE DESCRIPTION</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758778" y="1846300"/>
            <a:ext cx="15082325" cy="6986528"/>
          </a:xfrm>
          <a:prstGeom prst="rect">
            <a:avLst/>
          </a:prstGeom>
          <a:noFill/>
        </p:spPr>
        <p:txBody>
          <a:bodyPr wrap="square" lIns="91440" tIns="45720" rIns="91440" bIns="45720" rtlCol="0" anchor="t">
            <a:spAutoFit/>
          </a:bodyPr>
          <a:lstStyle/>
          <a:p>
            <a:r>
              <a:rPr lang="en-US" sz="3200" b="1" dirty="0">
                <a:latin typeface="Times New Roman"/>
                <a:cs typeface="Times New Roman"/>
              </a:rPr>
              <a:t>Module 1: User Authentication &amp; Role Management</a:t>
            </a:r>
          </a:p>
          <a:p>
            <a:r>
              <a:rPr lang="en-US" sz="3200" dirty="0">
                <a:latin typeface="Times New Roman"/>
                <a:cs typeface="Times New Roman"/>
              </a:rPr>
              <a:t>• Secure login and registration</a:t>
            </a:r>
          </a:p>
          <a:p>
            <a:r>
              <a:rPr lang="en-US" sz="3200" dirty="0">
                <a:latin typeface="Times New Roman"/>
                <a:cs typeface="Times New Roman"/>
              </a:rPr>
              <a:t>• Role-based access (Admin / Student)</a:t>
            </a:r>
          </a:p>
          <a:p>
            <a:endParaRPr lang="en-US" sz="3200" b="1" dirty="0">
              <a:latin typeface="Times New Roman"/>
              <a:cs typeface="Times New Roman"/>
            </a:endParaRPr>
          </a:p>
          <a:p>
            <a:r>
              <a:rPr lang="en-US" sz="3200" b="1" dirty="0">
                <a:latin typeface="Times New Roman"/>
                <a:cs typeface="Times New Roman"/>
              </a:rPr>
              <a:t>Module 2: Job Listing &amp; Search</a:t>
            </a:r>
          </a:p>
          <a:p>
            <a:r>
              <a:rPr lang="en-US" sz="3200" dirty="0">
                <a:latin typeface="Times New Roman"/>
                <a:cs typeface="Times New Roman"/>
              </a:rPr>
              <a:t>• Admin can add/manage jobs</a:t>
            </a:r>
          </a:p>
          <a:p>
            <a:r>
              <a:rPr lang="en-US" sz="3200" dirty="0">
                <a:latin typeface="Times New Roman"/>
                <a:cs typeface="Times New Roman"/>
              </a:rPr>
              <a:t>• Students can search and filter jobs</a:t>
            </a:r>
          </a:p>
          <a:p>
            <a:endParaRPr lang="en-US" sz="3200" b="1" dirty="0">
              <a:latin typeface="Times New Roman"/>
              <a:cs typeface="Times New Roman"/>
            </a:endParaRPr>
          </a:p>
          <a:p>
            <a:r>
              <a:rPr lang="en-US" sz="3200" b="1" dirty="0">
                <a:latin typeface="Times New Roman"/>
                <a:cs typeface="Times New Roman"/>
              </a:rPr>
              <a:t>Module 3: Application &amp; File Management</a:t>
            </a:r>
          </a:p>
          <a:p>
            <a:r>
              <a:rPr lang="en-US" sz="3200" dirty="0">
                <a:latin typeface="Times New Roman"/>
                <a:cs typeface="Times New Roman"/>
              </a:rPr>
              <a:t>• Resume upload system</a:t>
            </a:r>
          </a:p>
          <a:p>
            <a:r>
              <a:rPr lang="en-US" sz="3200" dirty="0">
                <a:latin typeface="Times New Roman"/>
                <a:cs typeface="Times New Roman"/>
              </a:rPr>
              <a:t>• Application tracking</a:t>
            </a:r>
          </a:p>
          <a:p>
            <a:endParaRPr lang="en-US" sz="3200" b="1" dirty="0">
              <a:latin typeface="Times New Roman"/>
              <a:cs typeface="Times New Roman"/>
            </a:endParaRPr>
          </a:p>
          <a:p>
            <a:r>
              <a:rPr lang="en-US" sz="3200" b="1" dirty="0">
                <a:latin typeface="Times New Roman"/>
                <a:cs typeface="Times New Roman"/>
              </a:rPr>
              <a:t>Module 4: Email Notification System</a:t>
            </a:r>
          </a:p>
          <a:p>
            <a:r>
              <a:rPr lang="en-US" sz="3200" dirty="0">
                <a:latin typeface="Times New Roman"/>
                <a:cs typeface="Times New Roman"/>
              </a:rPr>
              <a:t>• Sends confirmation and status updates</a:t>
            </a:r>
            <a:endParaRPr lang="en-IN" sz="32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IMPLEMENTATION SCREENSHOTS</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4832092"/>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a:p>
        </p:txBody>
      </p:sp>
      <p:pic>
        <p:nvPicPr>
          <p:cNvPr id="4" name="Picture 3">
            <a:extLst>
              <a:ext uri="{FF2B5EF4-FFF2-40B4-BE49-F238E27FC236}">
                <a16:creationId xmlns:a16="http://schemas.microsoft.com/office/drawing/2014/main" id="{DFE4E072-95E2-C06F-F356-8A2151BF9930}"/>
              </a:ext>
            </a:extLst>
          </p:cNvPr>
          <p:cNvPicPr>
            <a:picLocks noChangeAspect="1"/>
          </p:cNvPicPr>
          <p:nvPr/>
        </p:nvPicPr>
        <p:blipFill>
          <a:blip r:embed="rId3"/>
          <a:stretch>
            <a:fillRect/>
          </a:stretch>
        </p:blipFill>
        <p:spPr>
          <a:xfrm>
            <a:off x="2758778" y="1514475"/>
            <a:ext cx="6134100" cy="7258050"/>
          </a:xfrm>
          <a:prstGeom prst="rect">
            <a:avLst/>
          </a:prstGeom>
        </p:spPr>
      </p:pic>
      <p:pic>
        <p:nvPicPr>
          <p:cNvPr id="6" name="Picture 5">
            <a:extLst>
              <a:ext uri="{FF2B5EF4-FFF2-40B4-BE49-F238E27FC236}">
                <a16:creationId xmlns:a16="http://schemas.microsoft.com/office/drawing/2014/main" id="{3A24B1A7-F2BA-E01C-3CE2-259050279F56}"/>
              </a:ext>
            </a:extLst>
          </p:cNvPr>
          <p:cNvPicPr>
            <a:picLocks noChangeAspect="1"/>
          </p:cNvPicPr>
          <p:nvPr/>
        </p:nvPicPr>
        <p:blipFill>
          <a:blip r:embed="rId4"/>
          <a:stretch>
            <a:fillRect/>
          </a:stretch>
        </p:blipFill>
        <p:spPr>
          <a:xfrm>
            <a:off x="10201275" y="1982349"/>
            <a:ext cx="5876925" cy="6143625"/>
          </a:xfrm>
          <a:prstGeom prst="rect">
            <a:avLst/>
          </a:prstGeom>
        </p:spPr>
      </p:pic>
      <p:sp>
        <p:nvSpPr>
          <p:cNvPr id="39" name="TextBox 38">
            <a:extLst>
              <a:ext uri="{FF2B5EF4-FFF2-40B4-BE49-F238E27FC236}">
                <a16:creationId xmlns:a16="http://schemas.microsoft.com/office/drawing/2014/main" id="{CFC44C18-716F-E017-B8B9-CD255BAC474A}"/>
              </a:ext>
            </a:extLst>
          </p:cNvPr>
          <p:cNvSpPr txBox="1"/>
          <p:nvPr/>
        </p:nvSpPr>
        <p:spPr>
          <a:xfrm>
            <a:off x="10667435" y="8194482"/>
            <a:ext cx="14210674" cy="584775"/>
          </a:xfrm>
          <a:prstGeom prst="rect">
            <a:avLst/>
          </a:prstGeom>
          <a:noFill/>
        </p:spPr>
        <p:txBody>
          <a:bodyPr wrap="square">
            <a:spAutoFit/>
          </a:bodyPr>
          <a:lstStyle/>
          <a:p>
            <a:r>
              <a:rPr lang="en-IN" sz="3200" dirty="0">
                <a:latin typeface="Times New Roman" panose="02020603050405020304" pitchFamily="18" charset="0"/>
                <a:cs typeface="Times New Roman" panose="02020603050405020304" pitchFamily="18" charset="0"/>
              </a:rPr>
              <a:t>Figure : Secure Login Page</a:t>
            </a:r>
          </a:p>
        </p:txBody>
      </p:sp>
      <p:sp>
        <p:nvSpPr>
          <p:cNvPr id="41" name="TextBox 40">
            <a:extLst>
              <a:ext uri="{FF2B5EF4-FFF2-40B4-BE49-F238E27FC236}">
                <a16:creationId xmlns:a16="http://schemas.microsoft.com/office/drawing/2014/main" id="{96136B87-E402-0918-046A-A2E673874A19}"/>
              </a:ext>
            </a:extLst>
          </p:cNvPr>
          <p:cNvSpPr txBox="1"/>
          <p:nvPr/>
        </p:nvSpPr>
        <p:spPr>
          <a:xfrm>
            <a:off x="2758778" y="8673525"/>
            <a:ext cx="14210674" cy="584775"/>
          </a:xfrm>
          <a:prstGeom prst="rect">
            <a:avLst/>
          </a:prstGeom>
          <a:noFill/>
        </p:spPr>
        <p:txBody>
          <a:bodyPr wrap="square">
            <a:spAutoFit/>
          </a:bodyPr>
          <a:lstStyle/>
          <a:p>
            <a:r>
              <a:rPr lang="en-IN" sz="3200" dirty="0">
                <a:latin typeface="Times New Roman" panose="02020603050405020304" pitchFamily="18" charset="0"/>
                <a:cs typeface="Times New Roman" panose="02020603050405020304" pitchFamily="18" charset="0"/>
              </a:rPr>
              <a:t>Figure : User Registration Interface </a:t>
            </a: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IMPLEMENTATION SCREENSHOTS</a:t>
            </a:r>
            <a:endParaRPr lang="en-IN" sz="4800" b="1">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7F07535-1690-2DCB-B401-D903C4B6BC88}"/>
              </a:ext>
            </a:extLst>
          </p:cNvPr>
          <p:cNvPicPr>
            <a:picLocks noChangeAspect="1"/>
          </p:cNvPicPr>
          <p:nvPr/>
        </p:nvPicPr>
        <p:blipFill>
          <a:blip r:embed="rId3"/>
          <a:stretch>
            <a:fillRect/>
          </a:stretch>
        </p:blipFill>
        <p:spPr>
          <a:xfrm>
            <a:off x="1831948" y="1249910"/>
            <a:ext cx="7273952" cy="5064103"/>
          </a:xfrm>
          <a:prstGeom prst="rect">
            <a:avLst/>
          </a:prstGeom>
        </p:spPr>
      </p:pic>
      <p:pic>
        <p:nvPicPr>
          <p:cNvPr id="6" name="Picture 5">
            <a:extLst>
              <a:ext uri="{FF2B5EF4-FFF2-40B4-BE49-F238E27FC236}">
                <a16:creationId xmlns:a16="http://schemas.microsoft.com/office/drawing/2014/main" id="{1D41FC7B-F938-7409-2678-6D30998E5E88}"/>
              </a:ext>
            </a:extLst>
          </p:cNvPr>
          <p:cNvPicPr>
            <a:picLocks noChangeAspect="1"/>
          </p:cNvPicPr>
          <p:nvPr/>
        </p:nvPicPr>
        <p:blipFill>
          <a:blip r:embed="rId4"/>
          <a:srcRect l="831" t="13455" r="12569" b="12873"/>
          <a:stretch>
            <a:fillRect/>
          </a:stretch>
        </p:blipFill>
        <p:spPr>
          <a:xfrm>
            <a:off x="9211277" y="5778629"/>
            <a:ext cx="8848123" cy="3298711"/>
          </a:xfrm>
          <a:prstGeom prst="rect">
            <a:avLst/>
          </a:prstGeom>
        </p:spPr>
      </p:pic>
      <p:sp>
        <p:nvSpPr>
          <p:cNvPr id="39" name="TextBox 38">
            <a:extLst>
              <a:ext uri="{FF2B5EF4-FFF2-40B4-BE49-F238E27FC236}">
                <a16:creationId xmlns:a16="http://schemas.microsoft.com/office/drawing/2014/main" id="{86040F57-46EB-E3F7-BC2B-CA018A2AC954}"/>
              </a:ext>
            </a:extLst>
          </p:cNvPr>
          <p:cNvSpPr txBox="1"/>
          <p:nvPr/>
        </p:nvSpPr>
        <p:spPr>
          <a:xfrm>
            <a:off x="10065333" y="9200343"/>
            <a:ext cx="14210674" cy="584775"/>
          </a:xfrm>
          <a:prstGeom prst="rect">
            <a:avLst/>
          </a:prstGeom>
          <a:noFill/>
        </p:spPr>
        <p:txBody>
          <a:bodyPr wrap="square">
            <a:spAutoFit/>
          </a:bodyPr>
          <a:lstStyle/>
          <a:p>
            <a:r>
              <a:rPr lang="fr-FR" sz="3200" dirty="0">
                <a:latin typeface="Times New Roman" panose="02020603050405020304" pitchFamily="18" charset="0"/>
                <a:cs typeface="Times New Roman" panose="02020603050405020304" pitchFamily="18" charset="0"/>
              </a:rPr>
              <a:t>Figure : Student Application </a:t>
            </a:r>
            <a:r>
              <a:rPr lang="fr-FR" sz="3200" dirty="0" err="1">
                <a:latin typeface="Times New Roman" panose="02020603050405020304" pitchFamily="18" charset="0"/>
                <a:cs typeface="Times New Roman" panose="02020603050405020304" pitchFamily="18" charset="0"/>
              </a:rPr>
              <a:t>Status</a:t>
            </a:r>
            <a:r>
              <a:rPr lang="fr-FR" sz="3200" dirty="0">
                <a:latin typeface="Times New Roman" panose="02020603050405020304" pitchFamily="18" charset="0"/>
                <a:cs typeface="Times New Roman" panose="02020603050405020304" pitchFamily="18" charset="0"/>
              </a:rPr>
              <a:t> Page </a:t>
            </a:r>
            <a:endParaRPr lang="en-IN" sz="32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B268E970-9101-FD10-DE0B-A14DE467B1AB}"/>
              </a:ext>
            </a:extLst>
          </p:cNvPr>
          <p:cNvSpPr txBox="1"/>
          <p:nvPr/>
        </p:nvSpPr>
        <p:spPr>
          <a:xfrm>
            <a:off x="1870048" y="6186698"/>
            <a:ext cx="14210674" cy="1077218"/>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Figure : Student Job Search and Apply </a:t>
            </a:r>
          </a:p>
          <a:p>
            <a:r>
              <a:rPr lang="en-US" sz="3200" dirty="0">
                <a:latin typeface="Times New Roman" panose="02020603050405020304" pitchFamily="18" charset="0"/>
                <a:cs typeface="Times New Roman" panose="02020603050405020304" pitchFamily="18" charset="0"/>
              </a:rPr>
              <a:t>             Interface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IMPLEMENTATION SCREENSHOTS</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a:p>
        </p:txBody>
      </p:sp>
      <p:pic>
        <p:nvPicPr>
          <p:cNvPr id="4" name="Picture 3">
            <a:extLst>
              <a:ext uri="{FF2B5EF4-FFF2-40B4-BE49-F238E27FC236}">
                <a16:creationId xmlns:a16="http://schemas.microsoft.com/office/drawing/2014/main" id="{92BF391B-D36A-368F-6FF7-99E3269818C0}"/>
              </a:ext>
            </a:extLst>
          </p:cNvPr>
          <p:cNvPicPr>
            <a:picLocks noChangeAspect="1"/>
          </p:cNvPicPr>
          <p:nvPr/>
        </p:nvPicPr>
        <p:blipFill>
          <a:blip r:embed="rId3"/>
          <a:stretch>
            <a:fillRect/>
          </a:stretch>
        </p:blipFill>
        <p:spPr>
          <a:xfrm>
            <a:off x="2577104" y="1909762"/>
            <a:ext cx="13973175" cy="6467475"/>
          </a:xfrm>
          <a:prstGeom prst="rect">
            <a:avLst/>
          </a:prstGeom>
        </p:spPr>
      </p:pic>
      <p:sp>
        <p:nvSpPr>
          <p:cNvPr id="6" name="TextBox 5">
            <a:extLst>
              <a:ext uri="{FF2B5EF4-FFF2-40B4-BE49-F238E27FC236}">
                <a16:creationId xmlns:a16="http://schemas.microsoft.com/office/drawing/2014/main" id="{39A42A07-9510-5480-D28E-1C15ED6BD12F}"/>
              </a:ext>
            </a:extLst>
          </p:cNvPr>
          <p:cNvSpPr txBox="1"/>
          <p:nvPr/>
        </p:nvSpPr>
        <p:spPr>
          <a:xfrm>
            <a:off x="5096656" y="8626290"/>
            <a:ext cx="14210674" cy="584775"/>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Figure : Admin Dashboard for Managing Applications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402236" y="163205"/>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IMPLEMENTATION SCREENSHOTS</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a:p>
        </p:txBody>
      </p:sp>
      <p:pic>
        <p:nvPicPr>
          <p:cNvPr id="4" name="Picture 3">
            <a:extLst>
              <a:ext uri="{FF2B5EF4-FFF2-40B4-BE49-F238E27FC236}">
                <a16:creationId xmlns:a16="http://schemas.microsoft.com/office/drawing/2014/main" id="{C1E7AFA4-9E97-C311-C7B2-AD626C3C5935}"/>
              </a:ext>
            </a:extLst>
          </p:cNvPr>
          <p:cNvPicPr>
            <a:picLocks noChangeAspect="1"/>
          </p:cNvPicPr>
          <p:nvPr/>
        </p:nvPicPr>
        <p:blipFill>
          <a:blip r:embed="rId3"/>
          <a:stretch>
            <a:fillRect/>
          </a:stretch>
        </p:blipFill>
        <p:spPr>
          <a:xfrm>
            <a:off x="3438525" y="2290762"/>
            <a:ext cx="11410950" cy="5705475"/>
          </a:xfrm>
          <a:prstGeom prst="rect">
            <a:avLst/>
          </a:prstGeom>
        </p:spPr>
      </p:pic>
      <p:sp>
        <p:nvSpPr>
          <p:cNvPr id="6" name="TextBox 5">
            <a:extLst>
              <a:ext uri="{FF2B5EF4-FFF2-40B4-BE49-F238E27FC236}">
                <a16:creationId xmlns:a16="http://schemas.microsoft.com/office/drawing/2014/main" id="{DE273D2D-97CB-171D-33F2-E0759CB4565D}"/>
              </a:ext>
            </a:extLst>
          </p:cNvPr>
          <p:cNvSpPr txBox="1"/>
          <p:nvPr/>
        </p:nvSpPr>
        <p:spPr>
          <a:xfrm>
            <a:off x="5794074" y="8249990"/>
            <a:ext cx="14210674" cy="584775"/>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Figure : Shortlisting Email Notification</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6D26884-F2B4-F01A-5CB7-3B35CE3DF661}"/>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F3314C27-8A09-2D39-26BF-2C41A9CFA45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FA0D669B-435F-EBB8-04C3-2514D8B911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B55C1F19-A793-1AE9-87A9-12B1AA507A8C}"/>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CC09F297-3070-E065-4557-E878659C0380}"/>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9F1700EA-6B47-9E9D-99B2-A93EAFCB651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F6AE9644-EE2A-817F-65B8-7389927A82C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6C54E92-5752-1C3A-D7DD-EF5D4FDF027C}"/>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809C58E7-F2EE-5AA0-833E-20735D41805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B8CC0C81-547C-2EF3-9A41-B2DFC3445B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4F08C4F1-D2CD-4CA5-E9FF-D43FADFF5929}"/>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93D9B2BB-DE3A-28FA-4E27-7091540DFD4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57748949-4559-B71A-8442-1BE06392328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0A2EBD6C-288C-7D4B-5702-297DA8BA1D57}"/>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2344ED0A-A9A2-6E1F-770C-5501CAAE348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DFB55F4E-0A7C-2DE5-FB8D-0D23585CBC8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F797F8A-E271-78F6-36E1-F036EEA3B4D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E2F11372-15BE-3CC2-99B9-4228F685DB5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A7C90A12-E089-2E29-2A2B-9B8F9FDD655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F7DCF51-F174-EA27-5E1E-4F2037AACC40}"/>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6F8D6681-3D33-C3A7-8C80-9A7A7CADE44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93F982B5-ABDB-71C4-07FF-59E2EF13DDC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C2B22A12-33F0-BBDC-0EBA-AEF8D2E3A733}"/>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FB89404-BA55-785C-6087-D741D2A386E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746DF3-4C73-C945-62D1-45769AA665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56ED9628-A481-3EB3-D41C-2F548857CCEE}"/>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06981B62-D236-AE0F-26B6-2C8FB0CDCB2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FDAC190C-600F-EC32-D506-FDE7B8A822A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A45378DF-CD8D-44DD-DEBA-417E48130E57}"/>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9903ACBD-9F33-B36B-38F3-1592E28442D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CB763AD-595D-62F0-B3A6-99C912DAB7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D75CA27-0510-471B-BF50-5A85B8FBADD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50C6DD5D-CEA3-A5C3-3118-D8775E7FD237}"/>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IMPLEMENTATION SCREENSHOTS</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E457089E-71D7-0128-7EF1-CC555588F83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a:p>
        </p:txBody>
      </p:sp>
      <p:pic>
        <p:nvPicPr>
          <p:cNvPr id="38" name="Picture 37">
            <a:extLst>
              <a:ext uri="{FF2B5EF4-FFF2-40B4-BE49-F238E27FC236}">
                <a16:creationId xmlns:a16="http://schemas.microsoft.com/office/drawing/2014/main" id="{1094E01D-4E6C-5D39-66BC-994310FAE98D}"/>
              </a:ext>
            </a:extLst>
          </p:cNvPr>
          <p:cNvPicPr>
            <a:picLocks noChangeAspect="1"/>
          </p:cNvPicPr>
          <p:nvPr/>
        </p:nvPicPr>
        <p:blipFill>
          <a:blip r:embed="rId3"/>
          <a:srcRect l="297" t="14416" r="42961" b="39914"/>
          <a:stretch>
            <a:fillRect/>
          </a:stretch>
        </p:blipFill>
        <p:spPr>
          <a:xfrm>
            <a:off x="2343149" y="1547027"/>
            <a:ext cx="7285903" cy="3298646"/>
          </a:xfrm>
          <a:prstGeom prst="rect">
            <a:avLst/>
          </a:prstGeom>
          <a:ln>
            <a:solidFill>
              <a:schemeClr val="tx1"/>
            </a:solidFill>
          </a:ln>
        </p:spPr>
      </p:pic>
      <p:pic>
        <p:nvPicPr>
          <p:cNvPr id="42" name="Picture 41">
            <a:extLst>
              <a:ext uri="{FF2B5EF4-FFF2-40B4-BE49-F238E27FC236}">
                <a16:creationId xmlns:a16="http://schemas.microsoft.com/office/drawing/2014/main" id="{2E62C88D-60CA-264A-0D13-2CCA78A1709B}"/>
              </a:ext>
            </a:extLst>
          </p:cNvPr>
          <p:cNvPicPr>
            <a:picLocks noChangeAspect="1"/>
          </p:cNvPicPr>
          <p:nvPr/>
        </p:nvPicPr>
        <p:blipFill>
          <a:blip r:embed="rId4"/>
          <a:srcRect l="369" t="17279" r="35049" b="36907"/>
          <a:stretch>
            <a:fillRect/>
          </a:stretch>
        </p:blipFill>
        <p:spPr>
          <a:xfrm>
            <a:off x="6297694" y="5523819"/>
            <a:ext cx="9842249" cy="3927423"/>
          </a:xfrm>
          <a:prstGeom prst="rect">
            <a:avLst/>
          </a:prstGeom>
          <a:ln>
            <a:solidFill>
              <a:schemeClr val="tx1"/>
            </a:solidFill>
          </a:ln>
        </p:spPr>
      </p:pic>
    </p:spTree>
    <p:extLst>
      <p:ext uri="{BB962C8B-B14F-4D97-AF65-F5344CB8AC3E}">
        <p14:creationId xmlns:p14="http://schemas.microsoft.com/office/powerpoint/2010/main" val="778027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3911BFD8-C963-DF5D-DB4A-F373767DBF66}"/>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F7D86151-5AEF-448C-8E9C-C00CBBE0A68C}"/>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9831A7E3-6853-65CF-0F2C-C1D2856E32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78F3CAE5-76E8-EDD1-0867-CCA643B05650}"/>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0E7C1E7E-281E-733D-EBC2-7FD456C5C402}"/>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74AD1A0F-0056-236E-52BD-0A8CFCCAA99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813CD25E-3AEB-AE89-322E-32CD46A77FB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60FB1-94AD-1E55-01B4-F7D01D80D906}"/>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B7A24968-8D89-521F-F3E5-36FBEBCDEED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C1318018-A5E8-015A-7A20-6EBA3D6E2A2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620B4BB9-6868-1313-96B5-6B969783646C}"/>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D81B27D0-64DF-D8B4-AF51-88995763ED0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A2B6DF7-2498-0406-2592-880E59AD6E2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BA64A0F0-B924-225F-BC7E-E2265A80B376}"/>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EF4D942-9042-A0B5-119A-970245B7E76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09069E76-3230-BF86-DD4A-7483E152F29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252995D-D5BC-FD6C-0FA0-1BAA31316E2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873DA408-FFBA-E569-AC85-FEB08E19137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3CB5FCB6-4FA5-DC36-A293-F0E73713986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74C938D3-26AD-8F7D-34DE-7684FDA356BA}"/>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7B178E3-ABDC-1ECD-516F-5902920F6A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B7E79DF-984C-3BFE-7680-88613BCFB0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85ECD2D-85CE-4AE3-982D-84BB0F397391}"/>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43AB435-2226-334B-7D51-8AD5964CF33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4DBCD270-44C7-2CB6-6712-C8D25B609E1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6CB0FB20-7560-947A-B4A6-3E35810E5288}"/>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041E5A3B-8AA6-8B66-8C32-F2A0D83D284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EE4781D5-0298-E403-AD86-790D0DA10C0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C8E9DD83-0DAB-BF08-8B64-5D76F12467BB}"/>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25E3950F-4A9D-F443-936D-AFD8FFB9FD6C}"/>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008D14BA-F956-D2CA-D1D9-F5B3C98CAF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8B9780E8-B18F-C0C8-B8AB-61F7C8D6286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AF05A806-28BA-CAD1-D19A-278819A5AA95}"/>
              </a:ext>
            </a:extLst>
          </p:cNvPr>
          <p:cNvSpPr txBox="1"/>
          <p:nvPr/>
        </p:nvSpPr>
        <p:spPr>
          <a:xfrm>
            <a:off x="152400" y="342900"/>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IMPLEMENTATION SCREENSHOTS</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7247441-85E8-E71A-986C-2F94DBE2E7C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a:p>
        </p:txBody>
      </p:sp>
      <p:pic>
        <p:nvPicPr>
          <p:cNvPr id="5" name="Picture 4">
            <a:extLst>
              <a:ext uri="{FF2B5EF4-FFF2-40B4-BE49-F238E27FC236}">
                <a16:creationId xmlns:a16="http://schemas.microsoft.com/office/drawing/2014/main" id="{935B16A4-923F-2A61-5477-B32DA02546A8}"/>
              </a:ext>
            </a:extLst>
          </p:cNvPr>
          <p:cNvPicPr>
            <a:picLocks noChangeAspect="1"/>
          </p:cNvPicPr>
          <p:nvPr/>
        </p:nvPicPr>
        <p:blipFill>
          <a:blip r:embed="rId3"/>
          <a:srcRect l="368" t="13511" r="40755" b="39783"/>
          <a:stretch>
            <a:fillRect/>
          </a:stretch>
        </p:blipFill>
        <p:spPr>
          <a:xfrm>
            <a:off x="1533539" y="1523811"/>
            <a:ext cx="8972819" cy="4003916"/>
          </a:xfrm>
          <a:prstGeom prst="rect">
            <a:avLst/>
          </a:prstGeom>
          <a:ln>
            <a:solidFill>
              <a:schemeClr val="tx1"/>
            </a:solidFill>
          </a:ln>
        </p:spPr>
      </p:pic>
      <p:pic>
        <p:nvPicPr>
          <p:cNvPr id="41" name="Picture 40">
            <a:extLst>
              <a:ext uri="{FF2B5EF4-FFF2-40B4-BE49-F238E27FC236}">
                <a16:creationId xmlns:a16="http://schemas.microsoft.com/office/drawing/2014/main" id="{FB713EDD-6829-3242-80A5-1C2CC704A9CE}"/>
              </a:ext>
            </a:extLst>
          </p:cNvPr>
          <p:cNvPicPr>
            <a:picLocks noChangeAspect="1"/>
          </p:cNvPicPr>
          <p:nvPr/>
        </p:nvPicPr>
        <p:blipFill>
          <a:blip r:embed="rId4"/>
          <a:srcRect l="368" t="13510" r="44099" b="37589"/>
          <a:stretch>
            <a:fillRect/>
          </a:stretch>
        </p:blipFill>
        <p:spPr>
          <a:xfrm>
            <a:off x="7186578" y="5752095"/>
            <a:ext cx="8463154" cy="4192005"/>
          </a:xfrm>
          <a:prstGeom prst="rect">
            <a:avLst/>
          </a:prstGeom>
          <a:ln>
            <a:solidFill>
              <a:schemeClr val="tx1"/>
            </a:solidFill>
          </a:ln>
        </p:spPr>
      </p:pic>
    </p:spTree>
    <p:extLst>
      <p:ext uri="{BB962C8B-B14F-4D97-AF65-F5344CB8AC3E}">
        <p14:creationId xmlns:p14="http://schemas.microsoft.com/office/powerpoint/2010/main" val="3799247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a:solidFill>
                  <a:srgbClr val="0033CC"/>
                </a:solidFill>
                <a:latin typeface="Times New Roman" panose="02020603050405020304" pitchFamily="18" charset="0"/>
                <a:cs typeface="Times New Roman" panose="02020603050405020304" pitchFamily="18" charset="0"/>
              </a:rPr>
              <a:t>ADVANTAGES &amp; LIMITATIONS</a:t>
            </a:r>
            <a:endParaRPr lang="en-IN" sz="4800" b="1">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EA15BE3-7334-5EC1-EF98-754168EDFC71}"/>
              </a:ext>
            </a:extLst>
          </p:cNvPr>
          <p:cNvSpPr txBox="1"/>
          <p:nvPr/>
        </p:nvSpPr>
        <p:spPr>
          <a:xfrm>
            <a:off x="2516626" y="2245318"/>
            <a:ext cx="14045782" cy="5509200"/>
          </a:xfrm>
          <a:prstGeom prst="rect">
            <a:avLst/>
          </a:prstGeom>
          <a:noFill/>
        </p:spPr>
        <p:txBody>
          <a:bodyPr wrap="square" lIns="91440" tIns="45720" rIns="91440" bIns="45720" anchor="t">
            <a:spAutoFit/>
          </a:bodyPr>
          <a:lstStyle/>
          <a:p>
            <a:pPr>
              <a:buNone/>
            </a:pPr>
            <a:r>
              <a:rPr lang="en-US" sz="3200" b="1" dirty="0">
                <a:latin typeface="Times New Roman"/>
                <a:cs typeface="Times New Roman"/>
              </a:rPr>
              <a:t>Advantages</a:t>
            </a:r>
          </a:p>
          <a:p>
            <a:pPr>
              <a:buNone/>
            </a:pPr>
            <a:r>
              <a:rPr lang="en-US" sz="3200" dirty="0">
                <a:latin typeface="Times New Roman"/>
                <a:cs typeface="Times New Roman"/>
              </a:rPr>
              <a:t>• High security using Spring Security  </a:t>
            </a:r>
          </a:p>
          <a:p>
            <a:pPr>
              <a:buNone/>
            </a:pPr>
            <a:r>
              <a:rPr lang="en-US" sz="3200" dirty="0">
                <a:latin typeface="Times New Roman"/>
                <a:cs typeface="Times New Roman"/>
              </a:rPr>
              <a:t>• Automated email notifications  </a:t>
            </a:r>
          </a:p>
          <a:p>
            <a:pPr>
              <a:buNone/>
            </a:pPr>
            <a:r>
              <a:rPr lang="en-US" sz="3200" dirty="0">
                <a:latin typeface="Times New Roman"/>
                <a:cs typeface="Times New Roman"/>
              </a:rPr>
              <a:t>• Easy job search and application  </a:t>
            </a:r>
          </a:p>
          <a:p>
            <a:pPr>
              <a:buNone/>
            </a:pPr>
            <a:r>
              <a:rPr lang="en-US" sz="3200" dirty="0">
                <a:latin typeface="Times New Roman"/>
                <a:cs typeface="Times New Roman"/>
              </a:rPr>
              <a:t>• Modular and scalable system  </a:t>
            </a:r>
          </a:p>
          <a:p>
            <a:pPr>
              <a:buNone/>
            </a:pPr>
            <a:r>
              <a:rPr lang="en-US" sz="3200" dirty="0">
                <a:latin typeface="Times New Roman"/>
                <a:cs typeface="Times New Roman"/>
              </a:rPr>
              <a:t>• Centralized data management </a:t>
            </a:r>
            <a:br>
              <a:rPr lang="en-US" sz="3200" dirty="0"/>
            </a:br>
            <a:endParaRPr lang="en-US" sz="3200" dirty="0">
              <a:latin typeface="Times New Roman"/>
              <a:cs typeface="Times New Roman"/>
            </a:endParaRPr>
          </a:p>
          <a:p>
            <a:pPr>
              <a:buNone/>
            </a:pPr>
            <a:r>
              <a:rPr lang="en-US" sz="3200" b="1" dirty="0">
                <a:latin typeface="Times New Roman"/>
                <a:cs typeface="Times New Roman"/>
              </a:rPr>
              <a:t>Limitations</a:t>
            </a:r>
          </a:p>
          <a:p>
            <a:pPr>
              <a:buNone/>
            </a:pPr>
            <a:r>
              <a:rPr lang="en-US" sz="3200" dirty="0">
                <a:latin typeface="Times New Roman"/>
                <a:cs typeface="Times New Roman"/>
              </a:rPr>
              <a:t>• Uses local storage (not cloud)  </a:t>
            </a:r>
          </a:p>
          <a:p>
            <a:pPr>
              <a:buNone/>
            </a:pPr>
            <a:r>
              <a:rPr lang="en-US" sz="3200" dirty="0">
                <a:latin typeface="Times New Roman"/>
                <a:cs typeface="Times New Roman"/>
              </a:rPr>
              <a:t>• Limited advanced search features  </a:t>
            </a:r>
          </a:p>
          <a:p>
            <a:pPr>
              <a:buNone/>
            </a:pPr>
            <a:r>
              <a:rPr lang="en-US" sz="3200" dirty="0">
                <a:latin typeface="Times New Roman"/>
                <a:cs typeface="Times New Roman"/>
              </a:rPr>
              <a:t>• Requires internet connection </a:t>
            </a:r>
          </a:p>
        </p:txBody>
      </p:sp>
    </p:spTree>
    <p:extLst>
      <p:ext uri="{BB962C8B-B14F-4D97-AF65-F5344CB8AC3E}">
        <p14:creationId xmlns:p14="http://schemas.microsoft.com/office/powerpoint/2010/main" val="183897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827</Words>
  <Application>Microsoft Office PowerPoint</Application>
  <PresentationFormat>Custom</PresentationFormat>
  <Paragraphs>276</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Times New Roman</vt:lpstr>
      <vt:lpstr>Wingdings</vt:lpstr>
      <vt:lpstr>Calibri</vt:lpstr>
      <vt:lpstr>Gotham Bold Italics</vt:lpstr>
      <vt:lpstr>Cambria</vt:lpstr>
      <vt:lpstr>Arial</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OORRJITHA</dc:creator>
  <cp:lastModifiedBy>likhithareddy35@outlook.com</cp:lastModifiedBy>
  <cp:revision>17</cp:revision>
  <dcterms:created xsi:type="dcterms:W3CDTF">2006-08-16T00:00:00Z</dcterms:created>
  <dcterms:modified xsi:type="dcterms:W3CDTF">2026-05-05T17:01:45Z</dcterms:modified>
  <dc:identifier>DAHCaYqJ9OU</dc:identifier>
</cp:coreProperties>
</file>